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Lexen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Lexend-bold.fntdata"/><Relationship Id="rId10" Type="http://schemas.openxmlformats.org/officeDocument/2006/relationships/slide" Target="slides/slide5.xml"/><Relationship Id="rId21" Type="http://schemas.openxmlformats.org/officeDocument/2006/relationships/font" Target="fonts/Lexen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27259d7fef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27259d7fef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Graham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asteroid is projected to collide with Earth in 2 days, and one of our satellites halfway between apogee and perigee, is commanded to fly out towards the asteroid to try and knock it off it’s path.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 have a successful mission, we’d like to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…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AutoNum type="arabicParenR"/>
            </a:pPr>
            <a:r>
              <a:rPr lang="en"/>
              <a:t>…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e12ba778da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e12ba778da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Graham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7259d7fef8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7259d7fef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Graham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[just read out each variable]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Could have made control input more convenient, but we wanted to be realistic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Now, we are going to look at our </a:t>
            </a:r>
            <a:r>
              <a:rPr lang="en"/>
              <a:t>dynamics</a:t>
            </a:r>
            <a:r>
              <a:rPr lang="en"/>
              <a:t> in more depth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27e1429b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27e1429b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27e1429bd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27e1429bd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2727e1429bd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2727e1429bd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727e1429bd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727e1429bd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7259d7fef8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7259d7fef8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Chris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4th problem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The controller needs a desired trajectory to minimize against, and this raised some issues.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259d7fe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259d7fe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Ashok- initially we wanted to do path 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planning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with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the MPC however, this did not 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yield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satisfactory results. We then gave the MPC a nominal ,dynamically 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feasible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trajectory to follow and as a feedback controller worked quite well. We initially tried to use scipy’s non-linear optimizer to get an optimal nominal trajectory however it did not converge. Thus we stuck to a simple nominal 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trajectory</a:t>
            </a: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 sz="15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Velocity is not observable, so we use X_t, X_{t-1} to extrapolate </a:t>
            </a:r>
            <a:endParaRPr sz="15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solidFill>
                  <a:srgbClr val="59595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asteroid at t_N and make our trajectory a straight line approximation. </a:t>
            </a:r>
            <a:endParaRPr sz="1500">
              <a:solidFill>
                <a:srgbClr val="595959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27259d7fef8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27259d7fef8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Ashok- </a:t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27259d7fef8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27259d7fef8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Graham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wanted to keep our satellite and asteroid roughly no more than 40km apart, </a:t>
            </a:r>
            <a:r>
              <a:rPr lang="en"/>
              <a:t>according</a:t>
            </a:r>
            <a:r>
              <a:rPr lang="en"/>
              <a:t> to the specs of a military range finder, as this is the maximum distance at which we can make high quality measurements. This is why the spacecraft and asteroid </a:t>
            </a:r>
            <a:r>
              <a:rPr lang="en"/>
              <a:t>seemingly</a:t>
            </a:r>
            <a:r>
              <a:rPr lang="en"/>
              <a:t> close together… that initial distance is actually 40km, while one unit of distance is 6,738km (the radius of earth).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see that, the spacecraft does a very good job of finding the asteroid.</a:t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27259d7fef8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27259d7fef8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Ashok-particle filter doesn’t perform well due to few particles and </a:t>
            </a:r>
            <a:r>
              <a:rPr lang="en"/>
              <a:t>surprisingly</a:t>
            </a:r>
            <a:r>
              <a:rPr lang="en"/>
              <a:t> the error in the </a:t>
            </a:r>
            <a:r>
              <a:rPr lang="en"/>
              <a:t>asteroid</a:t>
            </a:r>
            <a:r>
              <a:rPr lang="en"/>
              <a:t> state is higher for the UKF, and peculiarly the UKF’s belief of the </a:t>
            </a:r>
            <a:r>
              <a:rPr lang="en"/>
              <a:t>asteroid seems to be a straight line. 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2e12ba778d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e12ba778d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Ashok</a:t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e12ba778da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e12ba778da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13.png"/><Relationship Id="rId6" Type="http://schemas.openxmlformats.org/officeDocument/2006/relationships/image" Target="../media/image12.png"/><Relationship Id="rId7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7" Type="http://schemas.openxmlformats.org/officeDocument/2006/relationships/image" Target="../media/image19.png"/><Relationship Id="rId8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5.png"/><Relationship Id="rId4" Type="http://schemas.openxmlformats.org/officeDocument/2006/relationships/image" Target="../media/image4.png"/><Relationship Id="rId5" Type="http://schemas.openxmlformats.org/officeDocument/2006/relationships/image" Target="../media/image7.png"/><Relationship Id="rId6" Type="http://schemas.openxmlformats.org/officeDocument/2006/relationships/image" Target="../media/image1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10.png"/><Relationship Id="rId5" Type="http://schemas.openxmlformats.org/officeDocument/2006/relationships/image" Target="../media/image2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5.png"/><Relationship Id="rId5" Type="http://schemas.openxmlformats.org/officeDocument/2006/relationships/image" Target="../media/image2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://drive.google.com/file/d/1p0qfgtYsf5lllqox3L8YNFIkbTNyxPp3/view" TargetMode="External"/><Relationship Id="rId4" Type="http://schemas.openxmlformats.org/officeDocument/2006/relationships/image" Target="../media/image22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" y="-108120"/>
            <a:ext cx="9144000" cy="6777993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>
            <p:ph type="ctrTitle"/>
          </p:nvPr>
        </p:nvSpPr>
        <p:spPr>
          <a:xfrm>
            <a:off x="108175" y="92525"/>
            <a:ext cx="8520600" cy="138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9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Asteroid Tracking &amp; Rendezvous with Convex Optimization and State Estimation Techniques</a:t>
            </a:r>
            <a:endParaRPr sz="29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76450" y="4656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89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Chris Mitchell, Graham Shunk, Ashok Viswanathan</a:t>
            </a:r>
            <a:endParaRPr sz="189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Project Goals: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Accurately estimate the state of a two body, one agent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system over time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Use estimated states to find the optimal control with a convex optimizer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Times New Roman"/>
              <a:buAutoNum type="arabicParenR"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Compare the performance of the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EKF, UKF, and Particle filter.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7800" y="2708500"/>
            <a:ext cx="6469605" cy="1860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Spacecraft feels </a:t>
            </a:r>
            <a:r>
              <a:rPr i="1" lang="en"/>
              <a:t>no </a:t>
            </a:r>
            <a:r>
              <a:rPr lang="en"/>
              <a:t>gravitation attraction from the earth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Assume constant m</a:t>
            </a:r>
            <a:r>
              <a:rPr baseline="-25000" lang="en"/>
              <a:t>rocket</a:t>
            </a:r>
            <a:r>
              <a:rPr lang="en"/>
              <a:t> 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2D Nonlinear Dynamics Model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Conditionally Independent Measurements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Markovian System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Gaussian White Noise</a:t>
            </a:r>
            <a:endParaRPr/>
          </a:p>
          <a:p>
            <a:pPr indent="0" lvl="0" marL="0" rtl="0" algn="l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89163" y="1556888"/>
            <a:ext cx="2143125" cy="2143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2D Problem Formulation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State:                                                                       	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Measurement:             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         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     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            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Control Input:                       							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Dynamics Step: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N steps: 950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Generate a noisy, ground truth history of measurements &amp; controls, online.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7" name="Google Shape;7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628" y="530625"/>
            <a:ext cx="3945068" cy="3082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8" name="Google Shape;78;p16"/>
          <p:cNvPicPr preferRelativeResize="0"/>
          <p:nvPr/>
        </p:nvPicPr>
        <p:blipFill rotWithShape="1">
          <a:blip r:embed="rId4">
            <a:alphaModFix/>
          </a:blip>
          <a:srcRect b="0" l="26938" r="-5021" t="0"/>
          <a:stretch/>
        </p:blipFill>
        <p:spPr>
          <a:xfrm>
            <a:off x="1009200" y="1248598"/>
            <a:ext cx="4162403" cy="28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51663" y="2161002"/>
            <a:ext cx="937873" cy="313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998600" y="2685100"/>
            <a:ext cx="1351625" cy="231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51679" y="1733225"/>
            <a:ext cx="2612692" cy="283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State: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 		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Input: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Dynamics: 			Jacobian:                   							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4250" y="1557475"/>
            <a:ext cx="2546449" cy="43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4250" y="2533025"/>
            <a:ext cx="1084750" cy="3626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Spacecraft Dynamics Model</a:t>
            </a:r>
            <a:endParaRPr/>
          </a:p>
        </p:txBody>
      </p:sp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78613" y="833713"/>
            <a:ext cx="2943225" cy="244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44256" y="3510500"/>
            <a:ext cx="1711888" cy="126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560375" y="3440575"/>
            <a:ext cx="3156249" cy="140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943875" y="3440575"/>
            <a:ext cx="2410650" cy="1336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Asteroid</a:t>
            </a:r>
            <a:r>
              <a:rPr lang="en"/>
              <a:t> Dynamics Model</a:t>
            </a:r>
            <a:endParaRPr/>
          </a:p>
        </p:txBody>
      </p:sp>
      <p:sp>
        <p:nvSpPr>
          <p:cNvPr id="99" name="Google Shape;99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State: 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                                                                   		 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Dynamics: 			Jacobian:                  							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0" name="Google Shape;10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4975" y="155125"/>
            <a:ext cx="3223299" cy="2793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0600" y="1630925"/>
            <a:ext cx="2148550" cy="36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0600" y="3033250"/>
            <a:ext cx="1804700" cy="1349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625999" y="3033250"/>
            <a:ext cx="3106403" cy="13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Measurement Model</a:t>
            </a:r>
            <a:endParaRPr/>
          </a:p>
        </p:txBody>
      </p: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153421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Sensors: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→ Ranging, IMU, and Laser Rangefinder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3421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Measurement: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3421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153421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Jacobian:                                     </a:t>
            </a:r>
            <a:endParaRPr/>
          </a:p>
        </p:txBody>
      </p:sp>
      <p:pic>
        <p:nvPicPr>
          <p:cNvPr id="110" name="Google Shape;110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3409875"/>
            <a:ext cx="8231199" cy="1217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96775" y="2663075"/>
            <a:ext cx="3215550" cy="34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65900" y="604725"/>
            <a:ext cx="4319349" cy="2202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MPC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8" name="Google Shape;118;p20"/>
          <p:cNvSpPr txBox="1"/>
          <p:nvPr>
            <p:ph idx="1" type="body"/>
          </p:nvPr>
        </p:nvSpPr>
        <p:spPr>
          <a:xfrm>
            <a:off x="311700" y="86355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controller aims to minimize the L2 distance to a given trajectory over a finite time horizon N.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The optimization is subject to constraints: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→ Set the first state to the initial conditions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→ All states must be linked together through the system state space dynamics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→ Control inputs must be within the allowable range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At each time step, MPC solves the optimization problem, the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first control action is implemented, the next state is estimated, and repeat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. 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9" name="Google Shape;11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550" y="3738650"/>
            <a:ext cx="3433251" cy="1321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00100" y="3738650"/>
            <a:ext cx="2467000" cy="68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00105" y="4373050"/>
            <a:ext cx="1516739" cy="68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Encountered Problems &amp; Solutions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7" name="Google Shape;127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Problem: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MPC Numerical Instability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Solution: switched from SI units to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canonical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 units (distance in terms of Earth radii)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Problem: Spacecraft was going very fast upon rendezvous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Solution: We now claim that we’re knocking asteroid off it’s path (instead of rendezvous)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Problem: Estimating the asteroid and spacecraft state separately was very inconvenient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Solution: We stacked the asteroid and spacecraft state into a single vector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Problem: MPC could not follow trajectory AND path plan simultaneously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Solution: (next 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slide</a:t>
            </a: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MPC: Path Planning and Trajectory Following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" name="Google Shape;133;p22"/>
          <p:cNvSpPr txBox="1"/>
          <p:nvPr>
            <p:ph idx="1" type="body"/>
          </p:nvPr>
        </p:nvSpPr>
        <p:spPr>
          <a:xfrm>
            <a:off x="108200" y="1211875"/>
            <a:ext cx="8347200" cy="379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MPC does a great job trajectory following, but not path planning.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Initially, we asked it to do </a:t>
            </a:r>
            <a:r>
              <a:rPr i="1" lang="en" sz="1500">
                <a:latin typeface="Times New Roman"/>
                <a:ea typeface="Times New Roman"/>
                <a:cs typeface="Times New Roman"/>
                <a:sym typeface="Times New Roman"/>
              </a:rPr>
              <a:t>both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…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Solution: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→ maintain trajectory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prior </a:t>
            </a: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at each t: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500">
                <a:latin typeface="Times New Roman"/>
                <a:ea typeface="Times New Roman"/>
                <a:cs typeface="Times New Roman"/>
                <a:sym typeface="Times New Roman"/>
              </a:rPr>
              <a:t>→ Approximate trajectory is a straight line from 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134" name="Google Shape;134;p22"/>
          <p:cNvGrpSpPr/>
          <p:nvPr/>
        </p:nvGrpSpPr>
        <p:grpSpPr>
          <a:xfrm>
            <a:off x="5004588" y="1986266"/>
            <a:ext cx="3568238" cy="2701241"/>
            <a:chOff x="4988533" y="2569980"/>
            <a:chExt cx="3196200" cy="2444120"/>
          </a:xfrm>
        </p:grpSpPr>
        <p:sp>
          <p:nvSpPr>
            <p:cNvPr id="135" name="Google Shape;135;p22"/>
            <p:cNvSpPr/>
            <p:nvPr/>
          </p:nvSpPr>
          <p:spPr>
            <a:xfrm>
              <a:off x="4988533" y="2708580"/>
              <a:ext cx="969025" cy="803925"/>
            </a:xfrm>
            <a:custGeom>
              <a:rect b="b" l="l" r="r" t="t"/>
              <a:pathLst>
                <a:path extrusionOk="0" h="32157" w="38761">
                  <a:moveTo>
                    <a:pt x="19316" y="2028"/>
                  </a:moveTo>
                  <a:cubicBezTo>
                    <a:pt x="16333" y="1034"/>
                    <a:pt x="13149" y="-439"/>
                    <a:pt x="10065" y="178"/>
                  </a:cubicBezTo>
                  <a:cubicBezTo>
                    <a:pt x="8333" y="524"/>
                    <a:pt x="7189" y="3349"/>
                    <a:pt x="7845" y="4989"/>
                  </a:cubicBezTo>
                  <a:cubicBezTo>
                    <a:pt x="8169" y="5799"/>
                    <a:pt x="10085" y="6059"/>
                    <a:pt x="9695" y="6839"/>
                  </a:cubicBezTo>
                  <a:cubicBezTo>
                    <a:pt x="8127" y="9975"/>
                    <a:pt x="3837" y="10838"/>
                    <a:pt x="1555" y="13500"/>
                  </a:cubicBezTo>
                  <a:cubicBezTo>
                    <a:pt x="956" y="14198"/>
                    <a:pt x="222" y="14759"/>
                    <a:pt x="74" y="15350"/>
                  </a:cubicBezTo>
                  <a:cubicBezTo>
                    <a:pt x="-221" y="16529"/>
                    <a:pt x="2676" y="15858"/>
                    <a:pt x="3405" y="16830"/>
                  </a:cubicBezTo>
                  <a:cubicBezTo>
                    <a:pt x="5398" y="19487"/>
                    <a:pt x="4134" y="24596"/>
                    <a:pt x="7105" y="26081"/>
                  </a:cubicBezTo>
                  <a:cubicBezTo>
                    <a:pt x="10212" y="27634"/>
                    <a:pt x="14488" y="23184"/>
                    <a:pt x="17466" y="24971"/>
                  </a:cubicBezTo>
                  <a:cubicBezTo>
                    <a:pt x="19607" y="26256"/>
                    <a:pt x="17633" y="31395"/>
                    <a:pt x="20056" y="32001"/>
                  </a:cubicBezTo>
                  <a:cubicBezTo>
                    <a:pt x="25066" y="33254"/>
                    <a:pt x="26395" y="23812"/>
                    <a:pt x="30047" y="20160"/>
                  </a:cubicBezTo>
                  <a:cubicBezTo>
                    <a:pt x="32234" y="17973"/>
                    <a:pt x="39941" y="19227"/>
                    <a:pt x="38558" y="16460"/>
                  </a:cubicBezTo>
                  <a:cubicBezTo>
                    <a:pt x="37074" y="13491"/>
                    <a:pt x="34126" y="11283"/>
                    <a:pt x="31157" y="9799"/>
                  </a:cubicBezTo>
                  <a:cubicBezTo>
                    <a:pt x="29469" y="8956"/>
                    <a:pt x="32639" y="6099"/>
                    <a:pt x="32268" y="4249"/>
                  </a:cubicBezTo>
                  <a:cubicBezTo>
                    <a:pt x="31938" y="2604"/>
                    <a:pt x="29739" y="1949"/>
                    <a:pt x="28197" y="1288"/>
                  </a:cubicBezTo>
                  <a:cubicBezTo>
                    <a:pt x="25134" y="-25"/>
                    <a:pt x="19696" y="4639"/>
                    <a:pt x="18206" y="165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lgDashDot"/>
              <a:round/>
              <a:headEnd len="med" w="med" type="none"/>
              <a:tailEnd len="med" w="med" type="none"/>
            </a:ln>
          </p:spPr>
        </p:sp>
        <p:cxnSp>
          <p:nvCxnSpPr>
            <p:cNvPr id="136" name="Google Shape;136;p22"/>
            <p:cNvCxnSpPr/>
            <p:nvPr/>
          </p:nvCxnSpPr>
          <p:spPr>
            <a:xfrm flipH="1">
              <a:off x="5911300" y="2977075"/>
              <a:ext cx="1304400" cy="74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lgDashDot"/>
              <a:round/>
              <a:headEnd len="med" w="med" type="none"/>
              <a:tailEnd len="med" w="med" type="triangle"/>
            </a:ln>
          </p:spPr>
        </p:cxnSp>
        <p:sp>
          <p:nvSpPr>
            <p:cNvPr id="137" name="Google Shape;137;p22"/>
            <p:cNvSpPr/>
            <p:nvPr/>
          </p:nvSpPr>
          <p:spPr>
            <a:xfrm>
              <a:off x="7215708" y="2569980"/>
              <a:ext cx="969025" cy="803925"/>
            </a:xfrm>
            <a:custGeom>
              <a:rect b="b" l="l" r="r" t="t"/>
              <a:pathLst>
                <a:path extrusionOk="0" h="32157" w="38761">
                  <a:moveTo>
                    <a:pt x="19316" y="2028"/>
                  </a:moveTo>
                  <a:cubicBezTo>
                    <a:pt x="16333" y="1034"/>
                    <a:pt x="13149" y="-439"/>
                    <a:pt x="10065" y="178"/>
                  </a:cubicBezTo>
                  <a:cubicBezTo>
                    <a:pt x="8333" y="524"/>
                    <a:pt x="7189" y="3349"/>
                    <a:pt x="7845" y="4989"/>
                  </a:cubicBezTo>
                  <a:cubicBezTo>
                    <a:pt x="8169" y="5799"/>
                    <a:pt x="10085" y="6059"/>
                    <a:pt x="9695" y="6839"/>
                  </a:cubicBezTo>
                  <a:cubicBezTo>
                    <a:pt x="8127" y="9975"/>
                    <a:pt x="3837" y="10838"/>
                    <a:pt x="1555" y="13500"/>
                  </a:cubicBezTo>
                  <a:cubicBezTo>
                    <a:pt x="956" y="14198"/>
                    <a:pt x="222" y="14759"/>
                    <a:pt x="74" y="15350"/>
                  </a:cubicBezTo>
                  <a:cubicBezTo>
                    <a:pt x="-221" y="16529"/>
                    <a:pt x="2676" y="15858"/>
                    <a:pt x="3405" y="16830"/>
                  </a:cubicBezTo>
                  <a:cubicBezTo>
                    <a:pt x="5398" y="19487"/>
                    <a:pt x="4134" y="24596"/>
                    <a:pt x="7105" y="26081"/>
                  </a:cubicBezTo>
                  <a:cubicBezTo>
                    <a:pt x="10212" y="27634"/>
                    <a:pt x="14488" y="23184"/>
                    <a:pt x="17466" y="24971"/>
                  </a:cubicBezTo>
                  <a:cubicBezTo>
                    <a:pt x="19607" y="26256"/>
                    <a:pt x="17633" y="31395"/>
                    <a:pt x="20056" y="32001"/>
                  </a:cubicBezTo>
                  <a:cubicBezTo>
                    <a:pt x="25066" y="33254"/>
                    <a:pt x="26395" y="23812"/>
                    <a:pt x="30047" y="20160"/>
                  </a:cubicBezTo>
                  <a:cubicBezTo>
                    <a:pt x="32234" y="17973"/>
                    <a:pt x="39941" y="19227"/>
                    <a:pt x="38558" y="16460"/>
                  </a:cubicBezTo>
                  <a:cubicBezTo>
                    <a:pt x="37074" y="13491"/>
                    <a:pt x="34126" y="11283"/>
                    <a:pt x="31157" y="9799"/>
                  </a:cubicBezTo>
                  <a:cubicBezTo>
                    <a:pt x="29469" y="8956"/>
                    <a:pt x="32639" y="6099"/>
                    <a:pt x="32268" y="4249"/>
                  </a:cubicBezTo>
                  <a:cubicBezTo>
                    <a:pt x="31938" y="2604"/>
                    <a:pt x="29739" y="1949"/>
                    <a:pt x="28197" y="1288"/>
                  </a:cubicBezTo>
                  <a:cubicBezTo>
                    <a:pt x="25134" y="-25"/>
                    <a:pt x="19696" y="4639"/>
                    <a:pt x="18206" y="1658"/>
                  </a:cubicBezTo>
                </a:path>
              </a:pathLst>
            </a:cu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38" name="Google Shape;138;p22"/>
            <p:cNvSpPr/>
            <p:nvPr/>
          </p:nvSpPr>
          <p:spPr>
            <a:xfrm>
              <a:off x="7308200" y="4542200"/>
              <a:ext cx="471900" cy="471900"/>
            </a:xfrm>
            <a:prstGeom prst="plus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39" name="Google Shape;139;p22"/>
            <p:cNvCxnSpPr>
              <a:stCxn id="138" idx="1"/>
            </p:cNvCxnSpPr>
            <p:nvPr/>
          </p:nvCxnSpPr>
          <p:spPr>
            <a:xfrm rot="10800000">
              <a:off x="5643200" y="3367250"/>
              <a:ext cx="1665000" cy="1410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  <p:sp>
          <p:nvSpPr>
            <p:cNvPr id="140" name="Google Shape;140;p22"/>
            <p:cNvSpPr txBox="1"/>
            <p:nvPr/>
          </p:nvSpPr>
          <p:spPr>
            <a:xfrm>
              <a:off x="7412188" y="2708575"/>
              <a:ext cx="7056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T=t</a:t>
              </a:r>
              <a:endParaRPr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1" name="Google Shape;141;p22"/>
            <p:cNvSpPr txBox="1"/>
            <p:nvPr/>
          </p:nvSpPr>
          <p:spPr>
            <a:xfrm>
              <a:off x="5120225" y="2856788"/>
              <a:ext cx="7056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T=N</a:t>
              </a:r>
              <a:endParaRPr sz="18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42" name="Google Shape;142;p22"/>
            <p:cNvSpPr txBox="1"/>
            <p:nvPr/>
          </p:nvSpPr>
          <p:spPr>
            <a:xfrm>
              <a:off x="7308188" y="4565300"/>
              <a:ext cx="705600" cy="42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solidFill>
                    <a:schemeClr val="dk2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T=t</a:t>
              </a:r>
              <a:endParaRPr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</p:grpSp>
      <p:sp>
        <p:nvSpPr>
          <p:cNvPr id="143" name="Google Shape;143;p22"/>
          <p:cNvSpPr/>
          <p:nvPr/>
        </p:nvSpPr>
        <p:spPr>
          <a:xfrm>
            <a:off x="2830775" y="1666025"/>
            <a:ext cx="407100" cy="403500"/>
          </a:xfrm>
          <a:prstGeom prst="noSmoking">
            <a:avLst>
              <a:gd fmla="val 18750" name="adj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4" name="Google Shape;14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3950" y="4224750"/>
            <a:ext cx="742200" cy="271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57200" y="3760225"/>
            <a:ext cx="1200134" cy="310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67275" y="1845325"/>
            <a:ext cx="1200134" cy="31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Problematic Plots: MPC Path Planning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2" name="Google Shape;152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3" name="Google Shape;15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94400" y="1152475"/>
            <a:ext cx="4555200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Results: EKF Animation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9" name="Google Shape;159;p24" title="Screen Recording 2024-05-29 at 8.22.44 PM.mov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96725" y="890275"/>
            <a:ext cx="5246100" cy="3934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Times New Roman"/>
                <a:ea typeface="Times New Roman"/>
                <a:cs typeface="Times New Roman"/>
                <a:sym typeface="Times New Roman"/>
              </a:rPr>
              <a:t>Results: EKF, UKF, PF Error Comparison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5" name="Google Shape;165;p25"/>
          <p:cNvPicPr preferRelativeResize="0"/>
          <p:nvPr/>
        </p:nvPicPr>
        <p:blipFill rotWithShape="1">
          <a:blip r:embed="rId3">
            <a:alphaModFix/>
          </a:blip>
          <a:srcRect b="5679" l="6027" r="6369" t="7092"/>
          <a:stretch/>
        </p:blipFill>
        <p:spPr>
          <a:xfrm>
            <a:off x="311712" y="1704941"/>
            <a:ext cx="4422749" cy="22361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5"/>
          <p:cNvPicPr preferRelativeResize="0"/>
          <p:nvPr/>
        </p:nvPicPr>
        <p:blipFill rotWithShape="1">
          <a:blip r:embed="rId4">
            <a:alphaModFix/>
          </a:blip>
          <a:srcRect b="6081" l="6819" r="7513" t="7660"/>
          <a:stretch/>
        </p:blipFill>
        <p:spPr>
          <a:xfrm>
            <a:off x="4653975" y="1692325"/>
            <a:ext cx="4422749" cy="2261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Moving Forward</a:t>
            </a:r>
            <a:endParaRPr/>
          </a:p>
        </p:txBody>
      </p:sp>
      <p:sp>
        <p:nvSpPr>
          <p:cNvPr id="172" name="Google Shape;172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Replan Trajectory based on current estimates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Give spacecraft a gravitational pull from the earth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Use an accurate (not constant) spacecraft mass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7"/>
          <p:cNvSpPr txBox="1"/>
          <p:nvPr>
            <p:ph type="title"/>
          </p:nvPr>
        </p:nvSpPr>
        <p:spPr>
          <a:xfrm>
            <a:off x="3546025" y="24042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r>
              <a:rPr lang="en"/>
              <a:t>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